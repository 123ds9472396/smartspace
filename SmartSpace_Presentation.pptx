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A.P. Shah Institute of Technology, Thane | B.E. Computer Engineering | 2025-2026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SmartSpace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Warehouse Recommendation for Maharashtra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Hybrid ML and LLM Assistance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274320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SmartSpace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Dipesh Sharma (22102035)   Manthan Shinde (22102124)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Sahil Shinde (22102013)   Pranjal Zambre (22102118)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40233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Prof. Varsha Wangikar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 University of Mumbai | Department of Computer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Team SmartSpace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743200" cy="23774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2743200" cy="4754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508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Dipesh Sharma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22102035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2103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Seeker Module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914400"/>
            <a:ext cx="2743200" cy="23774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90320000" dist="483870000" dir="486000000000">
              <a:srgbClr val="000000">
                <a:alpha val="18000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914400"/>
            <a:ext cx="2743200" cy="475488"/>
          </a:xfrm>
          <a:prstGeom prst="rect">
            <a:avLst/>
          </a:prstGeom>
          <a:solidFill>
            <a:srgbClr val="027A8A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508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Manthan Shinde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78308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22102124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37560" y="2103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Seeker Module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914400"/>
            <a:ext cx="2743200" cy="23774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6387064000000" dist="6145149000000" dir="29160000000000000">
              <a:srgbClr val="000000">
                <a:alpha val="18000000000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914400"/>
            <a:ext cx="2743200" cy="47548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508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Pranjal Zambre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178308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22102118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63640" y="2103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Module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98280" y="914400"/>
            <a:ext cx="2743200" cy="23774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08115712800000000" dist="78043392300000000" dir="1.7496e+21">
              <a:srgbClr val="000000">
                <a:alpha val="1800000000000000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98280" y="914400"/>
            <a:ext cx="2743200" cy="4754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9189720" y="1508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Sahil Shinde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89720" y="178308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22102013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89720" y="2103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+ DB + Data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65760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 (20 Minutes)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2920" y="4069080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Problem Statement and Maharashtra Warehousing Context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2920" y="4453128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SmartSpace Architecture and Design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" y="4837176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Seeker, Owner, and Admin Module Workflows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2920" y="52212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ML Ensemble and LLM Intelligence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560527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Database Architecture and Results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02920" y="5989320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Unique Features, Future Scope, and Q&amp;A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9153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- Maharashtra Warehousing Crisis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11521440" cy="731520"/>
          </a:xfrm>
          <a:prstGeom prst="roundRect">
            <a:avLst/>
          </a:prstGeom>
          <a:solidFill>
            <a:srgbClr val="1A3A6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144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 logistics includes MIDC zones, cold storage, pharma and FMCG facilities, but discovery and booking is still fragmented and manual.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828800"/>
            <a:ext cx="3657600" cy="2011680"/>
          </a:xfrm>
          <a:prstGeom prst="roundRect">
            <a:avLst/>
          </a:prstGeom>
          <a:solidFill>
            <a:srgbClr val="12204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659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Platform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are fragmented and hard to compare.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87952" y="1828800"/>
            <a:ext cx="3657600" cy="2011680"/>
          </a:xfrm>
          <a:prstGeom prst="roundRect">
            <a:avLst/>
          </a:prstGeom>
          <a:solidFill>
            <a:srgbClr val="12204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25112" y="19659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Discovery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25112" y="246888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spend days calling brokers and visiting sites.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55864" y="1828800"/>
            <a:ext cx="3657600" cy="2011680"/>
          </a:xfrm>
          <a:prstGeom prst="roundRect">
            <a:avLst/>
          </a:prstGeom>
          <a:solidFill>
            <a:srgbClr val="12204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93024" y="19659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Intelligent Matching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93024" y="246888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Keyword-only filters fail for natural language needs.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4069080"/>
            <a:ext cx="3657600" cy="2011680"/>
          </a:xfrm>
          <a:prstGeom prst="roundRect">
            <a:avLst/>
          </a:prstGeom>
          <a:solidFill>
            <a:srgbClr val="12204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2062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 Problem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70916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listings remain invisible in classical systems.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87952" y="4069080"/>
            <a:ext cx="3657600" cy="2011680"/>
          </a:xfrm>
          <a:prstGeom prst="roundRect">
            <a:avLst/>
          </a:prstGeom>
          <a:solidFill>
            <a:srgbClr val="12204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25112" y="42062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Trust Layer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25112" y="470916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verification is often absent in listing workflows.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55864" y="4069080"/>
            <a:ext cx="3657600" cy="2011680"/>
          </a:xfrm>
          <a:prstGeom prst="roundRect">
            <a:avLst/>
          </a:prstGeom>
          <a:solidFill>
            <a:srgbClr val="12204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93024" y="42062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Operations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93024" y="470916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and revenue often tracked manually on sheets.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SmartSpace 4-Layer Architecture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11338560" cy="1051560"/>
          </a:xfrm>
          <a:prstGeom prst="round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2.64306955256e+21" dist="991151082210000000000" dir="1.04976e+26">
              <a:srgbClr val="000000">
                <a:alpha val="1.8e+24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44752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E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+ Vite + Tailwind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" y="2331720"/>
            <a:ext cx="11338560" cy="1051560"/>
          </a:xfrm>
          <a:prstGeom prst="roundRect">
            <a:avLst/>
          </a:prstGeom>
          <a:solidFill>
            <a:srgbClr val="1A6B9A"/>
          </a:solidFill>
          <a:ln/>
          <a:effectLst>
            <a:outerShdw sx="100000" sy="100000" kx="0" ky="0" algn="bl" rotWithShape="0" blurRad="3.3566983317512e+25" dist="1.2587618744067e+25" dir="6.29856e+30">
              <a:srgbClr val="000000">
                <a:alpha val="1.8e+29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423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770632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E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APIs + JWT + RBAC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3657600"/>
            <a:ext cx="11338560" cy="1051560"/>
          </a:xfrm>
          <a:prstGeom prst="round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4.2630068813240236e+29" dist="1.598627580496509e+29" dir="3.779136e+35">
              <a:srgbClr val="000000">
                <a:alpha val="1.7999999999999998e+34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749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096512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E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5-Model ML Ensemble + LLM Fallback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4983480"/>
            <a:ext cx="11338560" cy="1051560"/>
          </a:xfrm>
          <a:prstGeom prst="roundRect">
            <a:avLst/>
          </a:prstGeom>
          <a:solidFill>
            <a:srgbClr val="B35A00"/>
          </a:solidFill>
          <a:ln/>
          <a:effectLst>
            <a:outerShdw sx="100000" sy="100000" kx="0" ky="0" algn="bl" rotWithShape="0" blurRad="5.41401873928151e+33" dist="2.0302570272305663e+33" dir="2.2674816e+40">
              <a:srgbClr val="000000">
                <a:alpha val="1.8e+39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50749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5422392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E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PostgreSQL + RLS + Migrations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Seeker Module Workflow - Dipesh + Manthan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2148840" cy="43891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.875803798887518e+37" dist="2.578426424582819e+37" dir="1.36048896e+45">
              <a:srgbClr val="000000">
                <a:alpha val="1.8e+44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188720"/>
            <a:ext cx="214884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887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&amp; Search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208" y="2286000"/>
            <a:ext cx="19202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Seeker browses warehouse inventory by city, price, type, and amenities.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0" y="1188720"/>
            <a:ext cx="2148840" cy="43891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.732270824587148e+41" dist="3.2746015592201804e+41" dir="8.16293376e+49">
              <a:srgbClr val="000000">
                <a:alpha val="1.8e+49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0" y="1188720"/>
            <a:ext cx="214884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11887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834640" y="17830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Detail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52928" y="2286000"/>
            <a:ext cx="19202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Seeker opens detailed page with occupancy, amenities, pricing and owner data.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74920" y="1188720"/>
            <a:ext cx="2148840" cy="43891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1089983947225678e+46" dist="4.158743980209629e+45" dir="4.897760256e+54">
              <a:srgbClr val="000000">
                <a:alpha val="1.8e+54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74920" y="1188720"/>
            <a:ext cx="214884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5074920" y="11887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166360" y="17830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Block Selection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84648" y="2286000"/>
            <a:ext cx="19202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Grid-based block selector enables visual block booking.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06640" y="1188720"/>
            <a:ext cx="2148840" cy="43891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408427961297661e+50" dist="5.281604854866228e+49" dir="2.9386561536e+59">
              <a:srgbClr val="000000">
                <a:alpha val="1.8000000000000001e+59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06640" y="1188720"/>
            <a:ext cx="214884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406640" y="11887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498080" y="17830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Request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516368" y="2286000"/>
            <a:ext cx="19202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summary sends request to /api/bookings with computed total and GST.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738360" y="1188720"/>
            <a:ext cx="2148840" cy="43891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7887035108480297e+54" dist="6.70763816568011e+53" dir="1.76319369216e+64">
              <a:srgbClr val="000000">
                <a:alpha val="1.8e+64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738360" y="1188720"/>
            <a:ext cx="214884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9738360" y="11887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829800" y="17830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848088" y="2286000"/>
            <a:ext cx="19202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Seeker views booking timeline, saved warehouses, activity feed and invoice status.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Module Workflow - Sahil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611880" cy="24231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.2716534587769977e+58" dist="8.518700470413739e+57" dir="1.057916215296e+69">
              <a:srgbClr val="000000">
                <a:alpha val="1.8e+69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61188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143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1691640"/>
            <a:ext cx="3246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creates profile and uploads KYC documents.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097280"/>
            <a:ext cx="3611880" cy="24231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.8849998926467873e+62" dist="1.081874959742545e+62" dir="6.347497291776e+73">
              <a:srgbClr val="000000">
                <a:alpha val="1.8000000000000002e+74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1097280"/>
            <a:ext cx="361188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453128" y="1143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Property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07992" y="1691640"/>
            <a:ext cx="3246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submits warehouse details into warehouse_submissions.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0" y="1097280"/>
            <a:ext cx="3611880" cy="24231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.66394986366142e+66" dist="1.373981198873032e+66" dir="3.8084983750656e+78">
              <a:srgbClr val="000000">
                <a:alpha val="1.8000000000000003e+79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0" y="1097280"/>
            <a:ext cx="361188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8339328" y="1143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94192" y="1691640"/>
            <a:ext cx="3246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is reviewed for compliance and quality.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3611880" cy="24231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4.653216326850003e+70" dist="1.7449561225687507e+70" dir="2.28509902503936e+83">
              <a:srgbClr val="000000">
                <a:alpha val="1.8000000000000004e+84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840480"/>
            <a:ext cx="361188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38862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Listing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" y="4434840"/>
            <a:ext cx="3246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warehouse is published in warehouses table.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43400" y="3840480"/>
            <a:ext cx="3611880" cy="24231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.909584735099504e+74" dist="2.2160942756623134e+74" dir="1.371059415023616e+88">
              <a:srgbClr val="000000">
                <a:alpha val="1.8000000000000005e+89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43400" y="3840480"/>
            <a:ext cx="361188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4453128" y="38862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Control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07992" y="4434840"/>
            <a:ext cx="3246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approves or rejects booking requests.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0" y="3840480"/>
            <a:ext cx="3611880" cy="24231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.50517261357637e+78" dist="2.814439730091138e+78" dir="8.226356490141696e+92">
              <a:srgbClr val="000000">
                <a:alpha val="1.8000000000000007e+94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0" y="3840480"/>
            <a:ext cx="361188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8339328" y="38862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394192" y="4434840"/>
            <a:ext cx="3246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tracks occupancy, revenue and pricing recommendations.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9153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Module - Pranjal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611880" cy="2423160"/>
          </a:xfrm>
          <a:prstGeom prst="roundRect">
            <a:avLst/>
          </a:prstGeom>
          <a:solidFill>
            <a:srgbClr val="122045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3611880" cy="38404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04241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3504" y="1572768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view: users, revenue, booking trends, occupancy.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343400" y="1005840"/>
            <a:ext cx="3611880" cy="2423160"/>
          </a:xfrm>
          <a:prstGeom prst="roundRect">
            <a:avLst/>
          </a:prstGeom>
          <a:solidFill>
            <a:srgbClr val="122045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005840"/>
            <a:ext cx="3611880" cy="38404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0" name="Text 8"/>
          <p:cNvSpPr/>
          <p:nvPr/>
        </p:nvSpPr>
        <p:spPr>
          <a:xfrm>
            <a:off x="4453128" y="104241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Moderation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9704" y="1572768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Approve/reject warehouse submissions with audit trail.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229600" y="1005840"/>
            <a:ext cx="3611880" cy="2423160"/>
          </a:xfrm>
          <a:prstGeom prst="roundRect">
            <a:avLst/>
          </a:prstGeom>
          <a:solidFill>
            <a:srgbClr val="122045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1005840"/>
            <a:ext cx="3611880" cy="38404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8339328" y="104241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Governance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75904" y="1572768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booking controls and status transitions.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3611880" cy="2423160"/>
          </a:xfrm>
          <a:prstGeom prst="roundRect">
            <a:avLst/>
          </a:prstGeom>
          <a:solidFill>
            <a:srgbClr val="122045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749040"/>
            <a:ext cx="3611880" cy="38404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378561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3504" y="4315968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and profile verification with scoring support.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4343400" y="3749040"/>
            <a:ext cx="3611880" cy="2423160"/>
          </a:xfrm>
          <a:prstGeom prst="roundRect">
            <a:avLst/>
          </a:prstGeom>
          <a:solidFill>
            <a:srgbClr val="122045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43400" y="3749040"/>
            <a:ext cx="3611880" cy="38404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2" name="Text 20"/>
          <p:cNvSpPr/>
          <p:nvPr/>
        </p:nvSpPr>
        <p:spPr>
          <a:xfrm>
            <a:off x="4453128" y="378561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89704" y="4315968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seeker/owner activity and enforce moderation.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8229600" y="3749040"/>
            <a:ext cx="3611880" cy="2423160"/>
          </a:xfrm>
          <a:prstGeom prst="roundRect">
            <a:avLst/>
          </a:prstGeom>
          <a:solidFill>
            <a:srgbClr val="122045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3749040"/>
            <a:ext cx="3611880" cy="38404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6" name="Text 24"/>
          <p:cNvSpPr/>
          <p:nvPr/>
        </p:nvSpPr>
        <p:spPr>
          <a:xfrm>
            <a:off x="8339328" y="378561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375904" y="4315968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Platform-wide trends and administrative insights.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Ensemble and LLM Intelligence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669280" cy="53035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9.53156921924199e+82" dist="3.574338457215745e+82" dir="4.9358138940850176e+97">
              <a:srgbClr val="000000">
                <a:alpha val="1.8000000000000008e+9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0515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KNN - distance based matching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21284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Random Forest - categorical robustness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871216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Gradient Boosting - iterative error correction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529584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Neural Network - nonlinear pattern learning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187952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Hybrid Stacking - final ensemble fusion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55080" y="914400"/>
            <a:ext cx="5394960" cy="5303520"/>
          </a:xfrm>
          <a:prstGeom prst="round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1.2105092908437327e+87" dist="4.539409840663996e+86" dir="2.9614883364510103e+102">
              <a:srgbClr val="000000">
                <a:alpha val="1.800000000000001e+104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0" y="10515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Layer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15544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Primary LLM provider for NLP parsing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75120" y="221284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Fallback chain for reliability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75120" y="2871216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Natural language booking assistant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75120" y="3529584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Contextual recommendation explanations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75120" y="418795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Owner pricing insight generation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9153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and Database Architecture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155680" cy="1097280"/>
          </a:xfrm>
          <a:prstGeom prst="roundRect">
            <a:avLst/>
          </a:prstGeom>
          <a:solidFill>
            <a:srgbClr val="1A3A6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143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Tables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0" y="1170432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profiles, owner_profiles, seeker_profiles, warehouses, warehouse_submissions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423160"/>
            <a:ext cx="11155680" cy="1097280"/>
          </a:xfrm>
          <a:prstGeom prst="roundRect">
            <a:avLst/>
          </a:prstGeom>
          <a:solidFill>
            <a:srgbClr val="122045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60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Tables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0" y="2587752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bookings, activity_logs, saved_warehouses, inquiries, reviews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840480"/>
            <a:ext cx="11155680" cy="1097280"/>
          </a:xfrm>
          <a:prstGeom prst="roundRect">
            <a:avLst/>
          </a:prstGeom>
          <a:solidFill>
            <a:srgbClr val="1A3A6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9776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4005072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verification_queue, document_verifications, admin_notifications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5257800"/>
            <a:ext cx="11155680" cy="1097280"/>
          </a:xfrm>
          <a:prstGeom prst="roundRect">
            <a:avLst/>
          </a:prstGeom>
          <a:solidFill>
            <a:srgbClr val="122045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53949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5422392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ml_recommendations, pricing_reference, payment_transactions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enforces role-based data access for seeker, owner, and admin across all critical tables.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Results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560320" cy="16459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5373467993715405e+91" dist="5.765050497643275e+90" dir="1.7768930018706063e+107">
              <a:srgbClr val="000000">
                <a:alpha val="1.800000000000001e+10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801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87.9%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1965960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Ensemble Accuracy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29000" y="1097280"/>
            <a:ext cx="2560320" cy="16459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9524304352018566e+95" dist="7.321614132006959e+94" dir="1.0661358011223639e+112">
              <a:srgbClr val="000000">
                <a:alpha val="1.800000000000001e+11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2801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96.8%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538728" y="1965960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Conversational Success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09360" y="1097280"/>
            <a:ext cx="2560320" cy="16459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.4795866527063578e+99" dist="9.298449947648839e+98" dir="6.396814806734183e+116">
              <a:srgbClr val="000000">
                <a:alpha val="1.800000000000001e+11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2801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419088" y="1965960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Discovery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89720" y="1097280"/>
            <a:ext cx="2560320" cy="16459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.149075048937074e+103" dist="1.1809031433514024e+103" dir="3.83808888404051e+121">
              <a:srgbClr val="000000">
                <a:alpha val="1.800000000000001e+12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89720" y="12801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299448" y="1965960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Precision@10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2461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Hybrid? ML gives speed and structured precision, while LLM provides natural language understanding and explainability.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3840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ML-only systems miss conversational context.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85800" y="4297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LLM-only systems are slower and costlier at scale.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5800" y="4754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Hybrid architecture balances accuracy, cost, speed, and UX quality.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5800" y="5212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Failover design preserves service continuity.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9153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Features and Competitive Advantages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5440680" cy="1645920"/>
          </a:xfrm>
          <a:prstGeom prst="roundRect">
            <a:avLst/>
          </a:prstGeom>
          <a:solidFill>
            <a:srgbClr val="12204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698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Block Booking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90472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selection of warehouse blocks with real-time availability.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960120"/>
            <a:ext cx="5440680" cy="1645920"/>
          </a:xfrm>
          <a:prstGeom prst="roundRect">
            <a:avLst/>
          </a:prstGeom>
          <a:solidFill>
            <a:srgbClr val="12204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0698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Smart Booking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55080" y="1490472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query handling for practical seeker requests.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834640"/>
            <a:ext cx="5440680" cy="1645920"/>
          </a:xfrm>
          <a:prstGeom prst="roundRect">
            <a:avLst/>
          </a:prstGeom>
          <a:solidFill>
            <a:srgbClr val="12204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443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Pipeline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364992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checks and trust scoring before listing is published.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2834640"/>
            <a:ext cx="5440680" cy="1645920"/>
          </a:xfrm>
          <a:prstGeom prst="roundRect">
            <a:avLst/>
          </a:prstGeom>
          <a:solidFill>
            <a:srgbClr val="12204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29443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3364992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Data-assisted pricing recommendations for owners.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709160"/>
            <a:ext cx="5440680" cy="1645920"/>
          </a:xfrm>
          <a:prstGeom prst="roundRect">
            <a:avLst/>
          </a:prstGeom>
          <a:solidFill>
            <a:srgbClr val="12204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8188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5239512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strategy for service reliability under provider outages.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4709160"/>
            <a:ext cx="5440680" cy="1645920"/>
          </a:xfrm>
          <a:prstGeom prst="roundRect">
            <a:avLst/>
          </a:prstGeom>
          <a:solidFill>
            <a:srgbClr val="12204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48188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 Data Focus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5239512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regional warehouse dataset for realistic recommendations.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SmartSpace delivers a complete intelligent warehouse operations platform for Maharashtra.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2194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Role-based workflows for seeker, owner, and admin.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Hybrid ML plus LLM architecture for speed and explainability.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Supabase RLS data security with operational transparency.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840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Scalable foundation for future expansion and productization.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4937760"/>
            <a:ext cx="11155680" cy="1280160"/>
          </a:xfrm>
          <a:prstGeom prst="roundRect">
            <a:avLst/>
          </a:prstGeom>
          <a:solidFill>
            <a:srgbClr val="028090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53035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you, sir/ma'am. We are ready for questions.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" y="57607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SmartSpace | APSIT Thane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APSIT Thane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SmartSpace - Intelligent Warehouse Recommendation System</dc:title>
  <dc:subject>SmartSpace Project Presentation</dc:subject>
  <dc:creator>Team SmartSpace - APSIT</dc:creator>
  <cp:lastModifiedBy>Team SmartSpace - APSIT</cp:lastModifiedBy>
  <cp:revision>1</cp:revision>
  <dcterms:created xsi:type="dcterms:W3CDTF">2026-04-27T14:40:20Z</dcterms:created>
  <dcterms:modified xsi:type="dcterms:W3CDTF">2026-04-27T14:40:20Z</dcterms:modified>
</cp:coreProperties>
</file>